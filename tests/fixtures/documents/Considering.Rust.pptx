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</p:sldIdLst>
  <p:sldSz cy="5143500" cx="9144000"/>
  <p:notesSz cx="6858000" cy="9144000"/>
  <p:embeddedFontLst>
    <p:embeddedFont>
      <p:font typeface="Source Code Pro"/>
      <p:regular r:id="rId73"/>
      <p:bold r:id="rId74"/>
      <p:italic r:id="rId75"/>
      <p:boldItalic r:id="rId7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SourceCodePro-regular.fntdata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font" Target="fonts/SourceCodePro-italic.fntdata"/><Relationship Id="rId30" Type="http://schemas.openxmlformats.org/officeDocument/2006/relationships/slide" Target="slides/slide25.xml"/><Relationship Id="rId74" Type="http://schemas.openxmlformats.org/officeDocument/2006/relationships/font" Target="fonts/SourceCodePro-bold.fntdata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76" Type="http://schemas.openxmlformats.org/officeDocument/2006/relationships/font" Target="fonts/SourceCodePro-boldItalic.fntdata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765df6a1dc_0_1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765df6a1dc_0_1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recently ported ConcurrentHashMap to Rust!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765df6a1dc_0_1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765df6a1dc_0_1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will show you some Rust code to demonstrate particular features, and walk you through the code, but do not expect to fully understand how it _works_ under the hood, even though I know that’s our natural instinct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765df6a1dc_0_1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765df6a1dc_0_1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765df6a1dc_0_1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765df6a1dc_0_1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“programs that care about their runtime, whether exec environment or perf”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765df6a1dc_0_2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765df6a1dc_0_2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“type rich” — use types to explain meaning of e.g., pointer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7dd780854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7dd780854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will spend the rest of the presentation talking more in-depth about each of these, and will happily extend in Q&amp;A after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7dd780854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7dd780854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7dd780854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7dd780854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dd78085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dd78085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7dd780854c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7dd780854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765df6a1dc_0_2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765df6a1dc_0_2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765df6a1dc_0_2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765df6a1dc_0_2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7dd780854c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7dd780854c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7dd780854c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7dd780854c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k in self works b/c &amp;MyVec impls IntoIterator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Option is itself a generic type. notice no null pointer, more on that in a second. different *copy* of type/method for each type instance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is compiled as if no generics -- static dispatch -- optimizer gets to also optimize with the _concrete_ F passed in _and_ the specific T (e.g., inlining)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7dd780854c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7dd780854c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7dd780854c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7dd780854c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store stuff “inside” your enums. tagged unions + handled automatically by compiler + optimizations!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pattern match against a particular outcome. compiler checks pattern match is exhaustive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makes refactoring easy -- compiler will tell you if you missed something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7e01051b7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7e01051b7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store stuff “inside” your enums. tagged unions + handled automatically by compiler + optimizations!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pattern match against a particular outcome. compiler checks pattern match is exhaustive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makes refactoring easy -- compiler will tell you if you missed something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7dd780854c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7dd780854c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7dd780854c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7dd780854c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anything annotated with #[test] is a test. placed directly in source file is unit test with access to private fields. placed in tests/ is an integration test only over public interface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triple-comment is documentation. cargo doc generates fully interlinked HTML docs, including dependencies and std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snippets in documentation automatically becomes part of test suite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7dd780854c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7dd780854c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765df6a1dc_0_2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765df6a1dc_0_2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7dd780854c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7dd780854c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7dd780854c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7dd780854c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“borrow checker”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dd780854c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dd780854c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pointers and variables are immutable by default. can also then only call immutable (&amp;self) methods.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must opt in to mutability (mut, &amp;mut)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e01051b7a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e01051b7a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pointers and variables are immutable by default. can also then only call immutable (&amp;self) methods.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must opt in to mutability (mut, &amp;mut)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7dd780854c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7dd780854c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7dd780854c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7dd780854c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“know” whether they can be sent and shared across thread boundaries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mutable access is checked to be exclusive at compile time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library called “rayon” that provides parallel operations on iterators *only when safe*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7dd780854c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7dd780854c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7dd780854c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7dd780854c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null pointers causing silent crashes -- part of the type -- MUST handle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same with errors -- cannot ignore them. ? to early-return and propagate.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7dd780854c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7dd780854c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taken together, this gives a strong feeling of “if it compiles, it probably won’t crash”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7dd780854c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7dd780854c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7dd780854c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7dd780854c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7dd780854c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7dd780854c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7dd780854c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7dd780854c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7dd780854c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7dd780854c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7dd780854c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7dd780854c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7dd780854c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7dd780854c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encapsulating unsafe is very useful -- you know where to look if memory errors occur -- error won’t be in safe code!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unsafe enables you to still do very low-level operations with no overhead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those wondering: yes, you can also write assembly directly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7dd780854c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7dd780854c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6d854eae4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6d854eae4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7dd780854c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7dd780854c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7dd780854c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7dd780854c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bindgen and cbindgen -- tools that automatically generate Rust bindings from C headers and C headers from Rust externs respectively. fairly similar to the C++ lib wrappers for Python, except zero overhead and many shared types.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zero-overhead FFI also makes incremental rewrites easy — swap out pieces of your app with Rust code, hide behind FFI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works with anything that supports C ABI, including Python/Java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7dd780854c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7dd780854c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Rust WebAssembly Working Group. Just another compilation target. Great build tools. Can export as npm module!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7dd780854c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7dd780854c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7dd780854c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7dd780854c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7dd780854c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7dd780854c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6d854eae4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6d854eae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7dd780854c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7dd780854c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7dd780854c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7dd780854c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automatically uses semantic versioning, central repository (supports custom repos for private packages)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supports custom build steps (like invoking cmake, bindgen, etc.)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7dd780854c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7dd780854c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7dd780854c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7dd780854c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docs.rs</a:t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7dd780854c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7dd780854c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7dd780854c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7dd780854c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macros are hygenic (left and right won’t shadow anything)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must input and produce syntactically valid 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also support for “procedural macros”, where you write a Rust function from token stream -&gt; token stream. serde -- automatic format-agnostic serialization</a:t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7e0f3296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7e0f3296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macros are hygenic (left and right won’t shadow anything)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must input and produce syntactically valid 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also support for “procedural macros”, where you write a Rust function from token stream -&gt; token stream. serde -- automatic format-agnostic serialization</a:t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7dd780854c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7dd780854c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7dd780854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7dd780854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765df6a1dc_0_2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765df6a1dc_0_2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7dd780854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7dd780854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borrow checker is alien and feels “unfair” and “hard” -- e.g., linked lists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requires you to think more about memory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prototyping is harder, especially initially, need to get code “correct” even though you’re going to rewrite it: “upfront cognitive load” (though wouldn’t you rather “why compile” than “why heap corrupt?”)</a:t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7dd780854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7dd780854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_is_ changing. quickly expanding ecosystem, both in term of #devs (partially due to companies) and #libraries.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crates are _really_ high quality already, like regex. good tooling also means generally good test coverage and docs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much churn. ecosystem generally very welcoming</a:t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7dd780854c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7dd780854c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“assisted” async/preemption.</a:t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7dd780854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7dd780854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reason for no pre-built libraries is complex, but core is generics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reason for that is that ABI with generics is hard. Swift recently got it, but cost is pretty high.</a:t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7dd780854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7dd780854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bindgen + ffi can often save you, but not always</a:t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7dd780854c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7dd780854c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765df6a1dc_0_2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765df6a1dc_0_2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7dd780854c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7dd780854c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a personal note: first language I _enjoy_ using in a very long time. Welcoming community. Focus on developer experience, incl. really good errors.</a:t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52c9728f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52c9728f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adb41e3b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adb41e3b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580425" y="1152475"/>
            <a:ext cx="825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2000"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jon@tsp.io" TargetMode="External"/><Relationship Id="rId4" Type="http://schemas.openxmlformats.org/officeDocument/2006/relationships/hyperlink" Target="https://tsp.io" TargetMode="External"/><Relationship Id="rId5" Type="http://schemas.openxmlformats.org/officeDocument/2006/relationships/hyperlink" Target="https://twitter.com/jonhoo" TargetMode="External"/><Relationship Id="rId6" Type="http://schemas.openxmlformats.org/officeDocument/2006/relationships/hyperlink" Target="https://github.com/jonhoo" TargetMode="External"/><Relationship Id="rId7" Type="http://schemas.openxmlformats.org/officeDocument/2006/relationships/hyperlink" Target="https://youtube.com/c/JonGjengse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github.com/%E2%80%A6" TargetMode="Externa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hyperlink" Target="https://matklad.github.io/2020/02/14/why-rust-is-loved.html" TargetMode="External"/><Relationship Id="rId4" Type="http://schemas.openxmlformats.org/officeDocument/2006/relationships/hyperlink" Target="https://twitter.com/jonhoo/status/1205184012861497344" TargetMode="External"/><Relationship Id="rId5" Type="http://schemas.openxmlformats.org/officeDocument/2006/relationships/hyperlink" Target="https://twitter.com/jonhoo/status/1215739214576287744" TargetMode="External"/><Relationship Id="rId6" Type="http://schemas.openxmlformats.org/officeDocument/2006/relationships/hyperlink" Target="https://twitter.com/jonhoo/status/1215739214576287744" TargetMode="Externa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hyperlink" Target="http://creativecommons.org/licenses/by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Considering Rust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February 2020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Jon Gjengset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225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Graduate</a:t>
            </a:r>
            <a:r>
              <a:rPr lang="en"/>
              <a:t> student at MIT’s Parallel and Distributed Operating Systems group.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Why me?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Noria:</a:t>
            </a:r>
            <a:r>
              <a:rPr lang="en"/>
              <a:t> 70k LOC </a:t>
            </a:r>
            <a:r>
              <a:rPr lang="en"/>
              <a:t>Rust</a:t>
            </a:r>
            <a:r>
              <a:rPr lang="en"/>
              <a:t> database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Contributor to Rust std and async runtime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150+ hours of Rust live-coding streams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Experience in C, C++, Go, and Python, as well as familiarity with Java</a:t>
            </a:r>
            <a:endParaRPr/>
          </a:p>
        </p:txBody>
      </p:sp>
      <p:sp>
        <p:nvSpPr>
          <p:cNvPr id="62" name="Google Shape;62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in touch: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-"/>
            </a:pPr>
            <a:r>
              <a:rPr lang="en" u="sng">
                <a:solidFill>
                  <a:schemeClr val="hlink"/>
                </a:solidFill>
                <a:hlinkClick r:id="rId3"/>
              </a:rPr>
              <a:t>jon@tsp.io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https://tsp.io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https://twitter.com/jonhoo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https://github.com/jonhoo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u="sng">
                <a:solidFill>
                  <a:schemeClr val="hlink"/>
                </a:solidFill>
                <a:hlinkClick r:id="rId7"/>
              </a:rPr>
              <a:t>https://youtube.com/c/JonGjengset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we’re all here today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Things we </a:t>
            </a:r>
            <a:r>
              <a:rPr b="1" lang="en"/>
              <a:t>will</a:t>
            </a:r>
            <a:r>
              <a:rPr lang="en"/>
              <a:t> cover: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High-level comparisons with</a:t>
            </a:r>
            <a:br>
              <a:rPr lang="en"/>
            </a:br>
            <a:r>
              <a:rPr lang="en"/>
              <a:t>Java, C++, and Python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Rust’s major selling points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Rust’s primary drawbacks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Long-term viability</a:t>
            </a:r>
            <a:endParaRPr/>
          </a:p>
        </p:txBody>
      </p:sp>
      <p:sp>
        <p:nvSpPr>
          <p:cNvPr id="69" name="Google Shape;69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Things we </a:t>
            </a:r>
            <a:r>
              <a:rPr b="1" lang="en"/>
              <a:t>will not</a:t>
            </a:r>
            <a:r>
              <a:rPr lang="en"/>
              <a:t> cover: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Learning to program in Rust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First, meet Rust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buzzwords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580425" y="1152475"/>
            <a:ext cx="825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/>
              <a:t>By Mozilla, for “systems programming”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/>
              <a:t>“Fast, reliable, productive — pick three”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/>
              <a:t>“Fearless concurrency”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/>
              <a:t>Community-driven and open-source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technical bits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580425" y="1152475"/>
            <a:ext cx="825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/>
              <a:t>Compiled language (not bytecode — machine code)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Strong, static typing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Imperative, but with functional aspects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No garbage collection or runtime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Elaborate type system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comparison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vs Python</a:t>
            </a:r>
            <a:endParaRPr/>
          </a:p>
        </p:txBody>
      </p:sp>
      <p:sp>
        <p:nvSpPr>
          <p:cNvPr id="97" name="Google Shape;97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Much faster.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Much lower memory use.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Multi-threading.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Algebraic data types.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Pattern matching.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Comprehensive static typing, so: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Many fewer runtime crashes.	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vs Java</a:t>
            </a:r>
            <a:endParaRPr/>
          </a:p>
        </p:txBody>
      </p:sp>
      <p:sp>
        <p:nvSpPr>
          <p:cNvPr id="104" name="Google Shape;104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JVM overhead or GC pauses.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Much lower memory use.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Zero-cost abstractions.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ConcurrentModificationException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Pattern matching.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Unified build system.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Dependency management.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vs C/C++</a:t>
            </a:r>
            <a:endParaRPr/>
          </a:p>
        </p:txBody>
      </p:sp>
      <p:sp>
        <p:nvSpPr>
          <p:cNvPr id="111" name="Google Shape;111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segfaults.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No buffer overflows.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No null pointers.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No data races.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Powerful type system.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Unified</a:t>
            </a:r>
            <a:r>
              <a:rPr lang="en"/>
              <a:t> build system.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Dependency management.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vs Go</a:t>
            </a:r>
            <a:endParaRPr/>
          </a:p>
        </p:txBody>
      </p:sp>
      <p:sp>
        <p:nvSpPr>
          <p:cNvPr id="118" name="Google Shape;118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GC pauses; lower memory use.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No null pointers.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Nicer error handling.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Safe concurrency.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Stronger type system.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Zero-cost abstractions.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Dependency management.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Rust’s primary features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Modern language</a:t>
            </a:r>
            <a:endParaRPr/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or: it’s nice to use</a:t>
            </a:r>
            <a:endParaRPr/>
          </a:p>
        </p:txBody>
      </p:sp>
      <p:sp>
        <p:nvSpPr>
          <p:cNvPr id="131" name="Google Shape;131;p2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Nice and efficient generics.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Algebraic data types + patterns.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Modern tooling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Modern </a:t>
            </a:r>
            <a:r>
              <a:rPr lang="en"/>
              <a:t>language</a:t>
            </a:r>
            <a:endParaRPr/>
          </a:p>
        </p:txBody>
      </p:sp>
      <p:sp>
        <p:nvSpPr>
          <p:cNvPr id="137" name="Google Shape;137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or: it’s nice to use</a:t>
            </a:r>
            <a:endParaRPr/>
          </a:p>
        </p:txBody>
      </p:sp>
      <p:sp>
        <p:nvSpPr>
          <p:cNvPr id="138" name="Google Shape;138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Nice and efficient generics.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Algebraic data types + patterns.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Modern tooling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Nice and efficient generics.</a:t>
            </a:r>
            <a:endParaRPr/>
          </a:p>
        </p:txBody>
      </p:sp>
      <p:sp>
        <p:nvSpPr>
          <p:cNvPr id="144" name="Google Shape;144;p27"/>
          <p:cNvSpPr txBox="1"/>
          <p:nvPr/>
        </p:nvSpPr>
        <p:spPr>
          <a:xfrm>
            <a:off x="311700" y="306100"/>
            <a:ext cx="8483400" cy="39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struct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MyVec&lt;T&gt; {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</a:t>
            </a: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...</a:t>
            </a:r>
            <a:endParaRPr>
              <a:solidFill>
                <a:srgbClr val="B7B7B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impl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&lt;T&gt; MyVec&lt;T&gt; {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</a:t>
            </a: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pub fn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find&lt;P&gt;(</a:t>
            </a:r>
            <a:r>
              <a:rPr lang="en">
                <a:solidFill>
                  <a:srgbClr val="98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&amp;</a:t>
            </a:r>
            <a:r>
              <a:rPr lang="en">
                <a:solidFill>
                  <a:srgbClr val="FF99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self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, predicate: P) -&gt; Option&lt;</a:t>
            </a:r>
            <a:r>
              <a:rPr lang="en">
                <a:solidFill>
                  <a:srgbClr val="98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&amp;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T&gt;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 </a:t>
            </a: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where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P: Fn(</a:t>
            </a:r>
            <a:r>
              <a:rPr lang="en">
                <a:solidFill>
                  <a:srgbClr val="98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&amp;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T) -&gt; bool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{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for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v </a:t>
            </a: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>
                <a:solidFill>
                  <a:srgbClr val="FF99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self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{</a:t>
            </a:r>
            <a:endParaRPr>
              <a:solidFill>
                <a:srgbClr val="B7B7B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    </a:t>
            </a: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predicate(v) {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return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Some(v);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    }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  }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  None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}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Modern </a:t>
            </a:r>
            <a:r>
              <a:rPr lang="en"/>
              <a:t>language</a:t>
            </a:r>
            <a:endParaRPr/>
          </a:p>
        </p:txBody>
      </p:sp>
      <p:sp>
        <p:nvSpPr>
          <p:cNvPr id="150" name="Google Shape;150;p2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Nice and efficient generics.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Algebraic data types + patterns.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Modern tooling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Algebraic data type + patterns</a:t>
            </a:r>
            <a:endParaRPr/>
          </a:p>
        </p:txBody>
      </p:sp>
      <p:sp>
        <p:nvSpPr>
          <p:cNvPr id="157" name="Google Shape;157;p29"/>
          <p:cNvSpPr txBox="1"/>
          <p:nvPr/>
        </p:nvSpPr>
        <p:spPr>
          <a:xfrm>
            <a:off x="311700" y="306100"/>
            <a:ext cx="8483400" cy="39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Option&lt;T&gt; is an enum that is either Some(T) or None</a:t>
            </a:r>
            <a:endParaRPr>
              <a:solidFill>
                <a:srgbClr val="B7B7B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 let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Some(f) = my_vec.find(|t| t &gt;= </a:t>
            </a:r>
            <a:r>
              <a:rPr lang="en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42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) {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</a:t>
            </a: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/* found */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Algebraic data type + patterns</a:t>
            </a:r>
            <a:endParaRPr/>
          </a:p>
        </p:txBody>
      </p:sp>
      <p:sp>
        <p:nvSpPr>
          <p:cNvPr id="163" name="Google Shape;163;p30"/>
          <p:cNvSpPr txBox="1"/>
          <p:nvPr/>
        </p:nvSpPr>
        <p:spPr>
          <a:xfrm>
            <a:off x="311700" y="306100"/>
            <a:ext cx="8483400" cy="39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Option&lt;T&gt; is an enum that is either Some(T) or None</a:t>
            </a:r>
            <a:endParaRPr>
              <a:solidFill>
                <a:srgbClr val="B7B7B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 let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Some(f) = my_vec.find(|t| t &gt;= </a:t>
            </a:r>
            <a:r>
              <a:rPr lang="en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42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) {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</a:t>
            </a: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/* found */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enum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DecompressionResult {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Finished { size: u32 },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InputError(std::io::Error),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OutputError(std::io::Error),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7B7B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this will not compile:</a:t>
            </a:r>
            <a:endParaRPr>
              <a:solidFill>
                <a:srgbClr val="B7B7B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match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decompress() {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Finished { size } </a:t>
            </a: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=&gt;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{ </a:t>
            </a: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/* parsed successfully */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}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InputError(e) </a:t>
            </a: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e.is_eof()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=&gt;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{ </a:t>
            </a: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/* got EOF */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}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OutputError(e) </a:t>
            </a: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=&gt;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{ </a:t>
            </a: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/* output failed with error e */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}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Modern </a:t>
            </a:r>
            <a:r>
              <a:rPr lang="en"/>
              <a:t>language</a:t>
            </a:r>
            <a:endParaRPr/>
          </a:p>
        </p:txBody>
      </p:sp>
      <p:sp>
        <p:nvSpPr>
          <p:cNvPr id="169" name="Google Shape;169;p3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Nice and efficient generics.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Algebraic data types + patterns.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/>
              <a:t>Modern tooling</a:t>
            </a:r>
            <a:r>
              <a:rPr b="1" lang="en"/>
              <a:t>.</a:t>
            </a:r>
            <a:endParaRPr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/>
          <p:nvPr>
            <p:ph idx="1" type="body"/>
          </p:nvPr>
        </p:nvSpPr>
        <p:spPr>
          <a:xfrm>
            <a:off x="311700" y="4230575"/>
            <a:ext cx="81849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Modern tooling — built-in testing and docs; friendly errors</a:t>
            </a:r>
            <a:endParaRPr/>
          </a:p>
        </p:txBody>
      </p:sp>
      <p:sp>
        <p:nvSpPr>
          <p:cNvPr id="176" name="Google Shape;176;p32"/>
          <p:cNvSpPr txBox="1"/>
          <p:nvPr/>
        </p:nvSpPr>
        <p:spPr>
          <a:xfrm>
            <a:off x="311700" y="306100"/>
            <a:ext cx="8483400" cy="39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#[test]</a:t>
            </a:r>
            <a:endParaRPr>
              <a:solidFill>
                <a:srgbClr val="FF99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fn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it_works() {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</a:t>
            </a:r>
            <a:r>
              <a:rPr lang="en">
                <a:solidFill>
                  <a:srgbClr val="98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assert_eq!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(</a:t>
            </a:r>
            <a:r>
              <a:rPr lang="en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+ </a:t>
            </a:r>
            <a:r>
              <a:rPr lang="en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, </a:t>
            </a:r>
            <a:r>
              <a:rPr lang="en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);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/// Returns one more than its argument.</a:t>
            </a:r>
            <a:endParaRPr>
              <a:solidFill>
                <a:srgbClr val="38761D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///</a:t>
            </a:r>
            <a:endParaRPr>
              <a:solidFill>
                <a:srgbClr val="38761D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/// ```</a:t>
            </a:r>
            <a:endParaRPr>
              <a:solidFill>
                <a:srgbClr val="38761D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/// assert_eq!(one_more(42), 43);</a:t>
            </a:r>
            <a:endParaRPr>
              <a:solidFill>
                <a:srgbClr val="38761D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/// ```</a:t>
            </a:r>
            <a:endParaRPr>
              <a:solidFill>
                <a:srgbClr val="38761D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pub fn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one_more(n: i32) -&gt; i32 {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n + </a:t>
            </a:r>
            <a:r>
              <a:rPr lang="en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</a:t>
            </a:r>
            <a:endParaRPr>
              <a:solidFill>
                <a:srgbClr val="38761D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Modern </a:t>
            </a:r>
            <a:r>
              <a:rPr lang="en"/>
              <a:t>language</a:t>
            </a:r>
            <a:endParaRPr/>
          </a:p>
        </p:txBody>
      </p:sp>
      <p:sp>
        <p:nvSpPr>
          <p:cNvPr id="182" name="Google Shape;182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Nice and efficient generics.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Algebraic data types + patterns.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Modern tooling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Safety by construction</a:t>
            </a:r>
            <a:endParaRPr/>
          </a:p>
        </p:txBody>
      </p:sp>
      <p:sp>
        <p:nvSpPr>
          <p:cNvPr id="189" name="Google Shape;189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or: it’s harder to misuse</a:t>
            </a:r>
            <a:endParaRPr/>
          </a:p>
        </p:txBody>
      </p:sp>
      <p:sp>
        <p:nvSpPr>
          <p:cNvPr id="190" name="Google Shape;190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Pointers checked at compile-time.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Thread-safety from types.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No hidden states.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Safety by construction</a:t>
            </a:r>
            <a:endParaRPr/>
          </a:p>
        </p:txBody>
      </p:sp>
      <p:sp>
        <p:nvSpPr>
          <p:cNvPr id="196" name="Google Shape;196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or: it’s harder to misuse</a:t>
            </a:r>
            <a:endParaRPr/>
          </a:p>
        </p:txBody>
      </p:sp>
      <p:sp>
        <p:nvSpPr>
          <p:cNvPr id="197" name="Google Shape;197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Pointers checked at compile-time.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Thread-safety from types.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No hidden states.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Pointers checked at compile-time.</a:t>
            </a:r>
            <a:endParaRPr/>
          </a:p>
        </p:txBody>
      </p:sp>
      <p:sp>
        <p:nvSpPr>
          <p:cNvPr id="203" name="Google Shape;203;p36"/>
          <p:cNvSpPr txBox="1"/>
          <p:nvPr/>
        </p:nvSpPr>
        <p:spPr>
          <a:xfrm>
            <a:off x="311700" y="306100"/>
            <a:ext cx="8483400" cy="39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every value has an owner, responsible for destructor (RAII).</a:t>
            </a:r>
            <a:endParaRPr>
              <a:solidFill>
                <a:srgbClr val="999999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compiler checks:</a:t>
            </a:r>
            <a:endParaRPr>
              <a:solidFill>
                <a:srgbClr val="999999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only ever one owner:</a:t>
            </a:r>
            <a:endParaRPr>
              <a:solidFill>
                <a:srgbClr val="999999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</a:t>
            </a:r>
            <a:r>
              <a:rPr b="1" lang="en">
                <a:solidFill>
                  <a:srgbClr val="9999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no double-free</a:t>
            </a:r>
            <a:endParaRPr b="1">
              <a:solidFill>
                <a:srgbClr val="999999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66666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let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x = Vec::new();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let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y = x;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drop(x); </a:t>
            </a: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illegal, y is now owner</a:t>
            </a:r>
            <a:endParaRPr>
              <a:solidFill>
                <a:srgbClr val="B7B7B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no pointers live past owner changes or drops:</a:t>
            </a:r>
            <a:endParaRPr>
              <a:solidFill>
                <a:srgbClr val="999999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</a:t>
            </a:r>
            <a:r>
              <a:rPr b="1" lang="en">
                <a:solidFill>
                  <a:srgbClr val="9999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no dangling pointers/use-after-free</a:t>
            </a:r>
            <a:endParaRPr b="1">
              <a:solidFill>
                <a:srgbClr val="999999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66666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let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mut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x = </a:t>
            </a:r>
            <a:r>
              <a:rPr lang="en">
                <a:solidFill>
                  <a:srgbClr val="98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vec!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[</a:t>
            </a:r>
            <a:r>
              <a:rPr lang="en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, </a:t>
            </a:r>
            <a:r>
              <a:rPr lang="en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, </a:t>
            </a:r>
            <a:r>
              <a:rPr lang="en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3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];</a:t>
            </a:r>
            <a:endParaRPr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let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first = </a:t>
            </a:r>
            <a:r>
              <a:rPr lang="en">
                <a:solidFill>
                  <a:srgbClr val="98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&amp;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x[</a:t>
            </a:r>
            <a:r>
              <a:rPr lang="en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0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];</a:t>
            </a:r>
            <a:endParaRPr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let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y = x;</a:t>
            </a:r>
            <a:endParaRPr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println!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</a:t>
            </a:r>
            <a:r>
              <a:rPr lang="en">
                <a:solidFill>
                  <a:srgbClr val="351C7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“{}”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, </a:t>
            </a:r>
            <a:r>
              <a:rPr lang="en">
                <a:solidFill>
                  <a:srgbClr val="98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*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first); </a:t>
            </a: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illegal, first became invalid when x was moved</a:t>
            </a:r>
            <a:endParaRPr b="1">
              <a:solidFill>
                <a:srgbClr val="666666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Pointers checked at compile-time.</a:t>
            </a:r>
            <a:endParaRPr/>
          </a:p>
        </p:txBody>
      </p:sp>
      <p:sp>
        <p:nvSpPr>
          <p:cNvPr id="209" name="Google Shape;209;p37"/>
          <p:cNvSpPr txBox="1"/>
          <p:nvPr/>
        </p:nvSpPr>
        <p:spPr>
          <a:xfrm>
            <a:off x="311700" y="306100"/>
            <a:ext cx="8483400" cy="39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let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v = Vec::new();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this compiles just fine:</a:t>
            </a:r>
            <a:endParaRPr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8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println!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</a:t>
            </a:r>
            <a:r>
              <a:rPr lang="en">
                <a:solidFill>
                  <a:srgbClr val="351C7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“len: {}”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, v.len());</a:t>
            </a:r>
            <a:endParaRPr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this will not compile; would need mutable access</a:t>
            </a:r>
            <a:endParaRPr>
              <a:solidFill>
                <a:srgbClr val="B7B7B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v.push(</a:t>
            </a:r>
            <a:r>
              <a:rPr lang="en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42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);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Pointers checked at compile-time.</a:t>
            </a:r>
            <a:endParaRPr/>
          </a:p>
        </p:txBody>
      </p:sp>
      <p:sp>
        <p:nvSpPr>
          <p:cNvPr id="215" name="Google Shape;215;p38"/>
          <p:cNvSpPr txBox="1"/>
          <p:nvPr/>
        </p:nvSpPr>
        <p:spPr>
          <a:xfrm>
            <a:off x="311700" y="306100"/>
            <a:ext cx="8483400" cy="39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let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v = Vec::new();</a:t>
            </a:r>
            <a:endParaRPr>
              <a:solidFill>
                <a:srgbClr val="B7B7B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accidentally_modify(</a:t>
            </a:r>
            <a:r>
              <a:rPr lang="en">
                <a:solidFill>
                  <a:srgbClr val="98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&amp;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v);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fn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accidentally_modify(v: </a:t>
            </a:r>
            <a:r>
              <a:rPr lang="en">
                <a:solidFill>
                  <a:srgbClr val="98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&amp;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Vec&lt;i32&gt;) {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</a:t>
            </a: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this compiles just fine:</a:t>
            </a:r>
            <a:endParaRPr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</a:t>
            </a:r>
            <a:r>
              <a:rPr lang="en">
                <a:solidFill>
                  <a:srgbClr val="98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println!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</a:t>
            </a:r>
            <a:r>
              <a:rPr lang="en">
                <a:solidFill>
                  <a:srgbClr val="351C7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“len: {}”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, v.len());</a:t>
            </a:r>
            <a:endParaRPr>
              <a:solidFill>
                <a:srgbClr val="B7B7B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</a:t>
            </a: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this will not compile; would need &amp;mut Vec&lt;i32&gt;</a:t>
            </a:r>
            <a:endParaRPr>
              <a:solidFill>
                <a:srgbClr val="B7B7B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push(v);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explicitly declare need for mutable access</a:t>
            </a:r>
            <a:endParaRPr>
              <a:solidFill>
                <a:srgbClr val="B7B7B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fn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push(v: </a:t>
            </a:r>
            <a:r>
              <a:rPr lang="en">
                <a:solidFill>
                  <a:srgbClr val="98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&amp;mut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Vec&lt;i32&gt;) {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v.push(</a:t>
            </a:r>
            <a:r>
              <a:rPr lang="en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42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);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this will not compile either: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push(</a:t>
            </a:r>
            <a:r>
              <a:rPr lang="en">
                <a:solidFill>
                  <a:srgbClr val="98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&amp;mut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v);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Safety by construction</a:t>
            </a:r>
            <a:endParaRPr/>
          </a:p>
        </p:txBody>
      </p:sp>
      <p:sp>
        <p:nvSpPr>
          <p:cNvPr id="221" name="Google Shape;221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Pointers checked at compile-time.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Thread-safety from types.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No hidden states.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Thread-safety embedded in type system.</a:t>
            </a:r>
            <a:endParaRPr/>
          </a:p>
        </p:txBody>
      </p:sp>
      <p:sp>
        <p:nvSpPr>
          <p:cNvPr id="228" name="Google Shape;228;p40"/>
          <p:cNvSpPr txBox="1"/>
          <p:nvPr/>
        </p:nvSpPr>
        <p:spPr>
          <a:xfrm>
            <a:off x="311700" y="306100"/>
            <a:ext cx="8483400" cy="39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use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std::cell::Rc; </a:t>
            </a: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reference-counted, non atomic</a:t>
            </a:r>
            <a:endParaRPr>
              <a:solidFill>
                <a:srgbClr val="B7B7B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use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std::sync::Arc; </a:t>
            </a: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reference-counted, atomic</a:t>
            </a:r>
            <a:endParaRPr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this will not compile:</a:t>
            </a:r>
            <a:endParaRPr>
              <a:solidFill>
                <a:srgbClr val="B7B7B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let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rc = Rc::new(</a:t>
            </a:r>
            <a:r>
              <a:rPr lang="en">
                <a:solidFill>
                  <a:srgbClr val="351C7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“not thread safe”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);</a:t>
            </a:r>
            <a:endParaRPr>
              <a:solidFill>
                <a:srgbClr val="B7B7B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std::thread::spawn(</a:t>
            </a:r>
            <a:r>
              <a:rPr lang="en">
                <a:solidFill>
                  <a:srgbClr val="FF99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move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|| { </a:t>
            </a:r>
            <a:r>
              <a:rPr lang="en">
                <a:solidFill>
                  <a:srgbClr val="98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println!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</a:t>
            </a:r>
            <a:r>
              <a:rPr lang="en">
                <a:solidFill>
                  <a:srgbClr val="351C7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“I have an rc with: {}”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, rc); });</a:t>
            </a:r>
            <a:endParaRPr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this compiles fine:</a:t>
            </a:r>
            <a:endParaRPr>
              <a:solidFill>
                <a:srgbClr val="B7B7B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let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arc = Arc::new(</a:t>
            </a:r>
            <a:r>
              <a:rPr lang="en">
                <a:solidFill>
                  <a:srgbClr val="351C7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“thread safe”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);</a:t>
            </a:r>
            <a:endParaRPr>
              <a:solidFill>
                <a:srgbClr val="B7B7B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std::thread::spawn(</a:t>
            </a:r>
            <a:r>
              <a:rPr lang="en">
                <a:solidFill>
                  <a:srgbClr val="FF99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move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|| { </a:t>
            </a:r>
            <a:r>
              <a:rPr lang="en">
                <a:solidFill>
                  <a:srgbClr val="98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println!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</a:t>
            </a:r>
            <a:r>
              <a:rPr lang="en">
                <a:solidFill>
                  <a:srgbClr val="351C7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“I have an arc with: {}”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, arc); });</a:t>
            </a:r>
            <a:endParaRPr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this will also not compile:</a:t>
            </a:r>
            <a:endParaRPr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let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mut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v = Vec::new();</a:t>
            </a:r>
            <a:endParaRPr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std::thread::spawn(|| { 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v.push(</a:t>
            </a:r>
            <a:r>
              <a:rPr lang="en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42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);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});</a:t>
            </a:r>
            <a:endParaRPr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let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_ = v.pop();</a:t>
            </a:r>
            <a:endParaRPr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Safety by construction</a:t>
            </a:r>
            <a:endParaRPr/>
          </a:p>
        </p:txBody>
      </p:sp>
      <p:sp>
        <p:nvSpPr>
          <p:cNvPr id="234" name="Google Shape;234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Pointers checked at compile-time.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Thread-safety from types.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/>
              <a:t>No hidden states.</a:t>
            </a:r>
            <a:endParaRPr b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hidden states.</a:t>
            </a:r>
            <a:endParaRPr/>
          </a:p>
        </p:txBody>
      </p:sp>
      <p:sp>
        <p:nvSpPr>
          <p:cNvPr id="241" name="Google Shape;241;p42"/>
          <p:cNvSpPr txBox="1"/>
          <p:nvPr/>
        </p:nvSpPr>
        <p:spPr>
          <a:xfrm>
            <a:off x="311700" y="306100"/>
            <a:ext cx="8483400" cy="39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enum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Option&lt;T&gt; {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Some(T),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None,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enum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Result&lt;T, E&gt; {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Ok(T),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Err(E),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v is Option&lt;&amp;T&gt;, not &amp;T -- cannot use without checking for None</a:t>
            </a:r>
            <a:endParaRPr>
              <a:solidFill>
                <a:srgbClr val="B7B7B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let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v =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my_vec.find(|t| t &gt;= </a:t>
            </a:r>
            <a:r>
              <a:rPr lang="en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42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);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n is Result&lt;i32, ParseIntError&gt; -- cannot use without checking for Err</a:t>
            </a:r>
            <a:endParaRPr>
              <a:solidFill>
                <a:srgbClr val="B7B7B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let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n =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>
                <a:solidFill>
                  <a:srgbClr val="351C7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“42”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.parse();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? suffix is “return Err if Err, otherwise unwrap Ok”</a:t>
            </a:r>
            <a:endParaRPr>
              <a:solidFill>
                <a:srgbClr val="B7B7B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let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n = </a:t>
            </a:r>
            <a:r>
              <a:rPr lang="en">
                <a:solidFill>
                  <a:srgbClr val="351C7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“42”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.parse()</a:t>
            </a:r>
            <a:r>
              <a:rPr b="1" lang="en">
                <a:solidFill>
                  <a:srgbClr val="98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?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Safety by construction</a:t>
            </a:r>
            <a:endParaRPr/>
          </a:p>
        </p:txBody>
      </p:sp>
      <p:sp>
        <p:nvSpPr>
          <p:cNvPr id="247" name="Google Shape;247;p4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Pointers checked at compile-time.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Thread-safety from types.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No hidden states.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Low-level control</a:t>
            </a:r>
            <a:endParaRPr/>
          </a:p>
        </p:txBody>
      </p:sp>
      <p:sp>
        <p:nvSpPr>
          <p:cNvPr id="254" name="Google Shape;254;p4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GC or runtime.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Control allocation and dispatch.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Can write + wrap low-level code.</a:t>
            </a:r>
            <a:endParaRPr/>
          </a:p>
        </p:txBody>
      </p:sp>
      <p:sp>
        <p:nvSpPr>
          <p:cNvPr id="255" name="Google Shape;255;p4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or: it gets out of your way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Low-level control</a:t>
            </a:r>
            <a:endParaRPr/>
          </a:p>
        </p:txBody>
      </p:sp>
      <p:sp>
        <p:nvSpPr>
          <p:cNvPr id="261" name="Google Shape;261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No GC or runtime.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Control allocation and dispatch.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Can write + wrap low-level code.</a:t>
            </a:r>
            <a:endParaRPr/>
          </a:p>
        </p:txBody>
      </p:sp>
      <p:sp>
        <p:nvSpPr>
          <p:cNvPr id="262" name="Google Shape;262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or: it gets out of your way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GC or runtime.</a:t>
            </a:r>
            <a:endParaRPr/>
          </a:p>
        </p:txBody>
      </p:sp>
      <p:sp>
        <p:nvSpPr>
          <p:cNvPr id="268" name="Google Shape;268;p46"/>
          <p:cNvSpPr txBox="1"/>
          <p:nvPr/>
        </p:nvSpPr>
        <p:spPr>
          <a:xfrm>
            <a:off x="311700" y="306100"/>
            <a:ext cx="8483400" cy="39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That means: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	No garbage collection pauses.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	No memory overhead (except what you add).</a:t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Can issue system calls (incl. fork/exec).</a:t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Can run on systems without an OS.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	Free FFI calls to other languages.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Low-level control</a:t>
            </a:r>
            <a:endParaRPr/>
          </a:p>
        </p:txBody>
      </p:sp>
      <p:sp>
        <p:nvSpPr>
          <p:cNvPr id="274" name="Google Shape;274;p4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GC or runtime.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Control allocation and dispatch.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Can write + wrap low-level code.</a:t>
            </a:r>
            <a:endParaRPr/>
          </a:p>
        </p:txBody>
      </p:sp>
      <p:sp>
        <p:nvSpPr>
          <p:cNvPr id="275" name="Google Shape;275;p4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allocation and dispatch.</a:t>
            </a:r>
            <a:endParaRPr/>
          </a:p>
        </p:txBody>
      </p:sp>
      <p:sp>
        <p:nvSpPr>
          <p:cNvPr id="281" name="Google Shape;281;p48"/>
          <p:cNvSpPr txBox="1"/>
          <p:nvPr/>
        </p:nvSpPr>
        <p:spPr>
          <a:xfrm>
            <a:off x="311700" y="306100"/>
            <a:ext cx="8483400" cy="39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variables are all on the stack</a:t>
            </a:r>
            <a:endParaRPr>
              <a:solidFill>
                <a:srgbClr val="B7B7B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let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x = </a:t>
            </a:r>
            <a:r>
              <a:rPr lang="en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42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let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z = [</a:t>
            </a:r>
            <a:r>
              <a:rPr lang="en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0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 </a:t>
            </a:r>
            <a:r>
              <a:rPr lang="en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1024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];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can opt-in to heap allocation</a:t>
            </a:r>
            <a:endParaRPr>
              <a:solidFill>
                <a:srgbClr val="B7B7B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let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heap_x = Box::new(x);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let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heap_z = </a:t>
            </a:r>
            <a:r>
              <a:rPr lang="en">
                <a:solidFill>
                  <a:srgbClr val="98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vec!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[</a:t>
            </a:r>
            <a:r>
              <a:rPr lang="en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0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; </a:t>
            </a:r>
            <a:r>
              <a:rPr lang="en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1024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];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can swap out allocator for performance or on embedded</a:t>
            </a:r>
            <a:endParaRPr>
              <a:solidFill>
                <a:srgbClr val="B7B7B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#[global_allocator]</a:t>
            </a:r>
            <a:endParaRPr>
              <a:solidFill>
                <a:srgbClr val="FF99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static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A: MyAllocator = MyAllocator;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can opt-in to dynamic dispatch (vtable): only one copy of find per T</a:t>
            </a:r>
            <a:endParaRPr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impl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&lt;T&gt; MyVec&lt;T&gt; {</a:t>
            </a:r>
            <a:endParaRPr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</a:t>
            </a: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pub fn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find(</a:t>
            </a:r>
            <a:r>
              <a:rPr lang="en">
                <a:solidFill>
                  <a:srgbClr val="98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&amp;</a:t>
            </a:r>
            <a:r>
              <a:rPr lang="en">
                <a:solidFill>
                  <a:srgbClr val="FF99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self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, f: </a:t>
            </a:r>
            <a:r>
              <a:rPr lang="en">
                <a:solidFill>
                  <a:srgbClr val="98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&amp;</a:t>
            </a:r>
            <a:r>
              <a:rPr b="1" lang="en">
                <a:solidFill>
                  <a:srgbClr val="98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dyn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Fn(</a:t>
            </a:r>
            <a:r>
              <a:rPr lang="en">
                <a:solidFill>
                  <a:srgbClr val="98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&amp;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T) -&gt; bool) -&gt; Option&lt;</a:t>
            </a:r>
            <a:r>
              <a:rPr lang="en">
                <a:solidFill>
                  <a:srgbClr val="98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&amp;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T&gt; {</a:t>
            </a:r>
            <a:endParaRPr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...</a:t>
            </a:r>
            <a:endParaRPr>
              <a:solidFill>
                <a:srgbClr val="B7B7B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Low-level control</a:t>
            </a:r>
            <a:endParaRPr/>
          </a:p>
        </p:txBody>
      </p:sp>
      <p:sp>
        <p:nvSpPr>
          <p:cNvPr id="287" name="Google Shape;287;p4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GC or runtime.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Control allocation and dispatch.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/>
              <a:t>Can write/wrap low-level code.</a:t>
            </a:r>
            <a:endParaRPr b="1"/>
          </a:p>
        </p:txBody>
      </p:sp>
      <p:sp>
        <p:nvSpPr>
          <p:cNvPr id="288" name="Google Shape;288;p4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write and wrap low-level code.</a:t>
            </a:r>
            <a:endParaRPr/>
          </a:p>
        </p:txBody>
      </p:sp>
      <p:sp>
        <p:nvSpPr>
          <p:cNvPr id="294" name="Google Shape;294;p50"/>
          <p:cNvSpPr txBox="1"/>
          <p:nvPr/>
        </p:nvSpPr>
        <p:spPr>
          <a:xfrm>
            <a:off x="311700" y="306100"/>
            <a:ext cx="8483400" cy="39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can do highly unsafe things by marking them as such</a:t>
            </a:r>
            <a:endParaRPr>
              <a:solidFill>
                <a:srgbClr val="999999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let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vga_ptr = </a:t>
            </a:r>
            <a:r>
              <a:rPr lang="en">
                <a:solidFill>
                  <a:srgbClr val="9900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0xB8000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>
                <a:solidFill>
                  <a:srgbClr val="98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as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>
                <a:solidFill>
                  <a:srgbClr val="98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*mut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u8;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assuming we have exclusive access to VGA memory</a:t>
            </a:r>
            <a:endParaRPr>
              <a:solidFill>
                <a:srgbClr val="B7B7B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let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vga = </a:t>
            </a:r>
            <a:r>
              <a:rPr lang="en">
                <a:solidFill>
                  <a:srgbClr val="FF99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unsafe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{ std::slice::from_raw_parts_mut(vga_ptr, </a:t>
            </a:r>
            <a:r>
              <a:rPr lang="en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80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* </a:t>
            </a:r>
            <a:r>
              <a:rPr lang="en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24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) };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vga[</a:t>
            </a:r>
            <a:r>
              <a:rPr lang="en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0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] = b</a:t>
            </a:r>
            <a:r>
              <a:rPr lang="en">
                <a:solidFill>
                  <a:srgbClr val="351C7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'X'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back in safe code, usual rules apply: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*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vga_ptr = b</a:t>
            </a:r>
            <a:r>
              <a:rPr lang="en">
                <a:solidFill>
                  <a:srgbClr val="351C7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'Y'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 </a:t>
            </a: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invalid; trying to dereference raw pointer</a:t>
            </a:r>
            <a:endParaRPr>
              <a:solidFill>
                <a:srgbClr val="B7B7B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vga[</a:t>
            </a:r>
            <a:r>
              <a:rPr lang="en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80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* </a:t>
            </a:r>
            <a:r>
              <a:rPr lang="en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24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] = b</a:t>
            </a:r>
            <a:r>
              <a:rPr lang="en">
                <a:solidFill>
                  <a:srgbClr val="351C7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'Y'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 </a:t>
            </a: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bounds check will catch this</a:t>
            </a:r>
            <a:endParaRPr>
              <a:solidFill>
                <a:srgbClr val="B7B7B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Low-level control</a:t>
            </a:r>
            <a:endParaRPr/>
          </a:p>
        </p:txBody>
      </p:sp>
      <p:sp>
        <p:nvSpPr>
          <p:cNvPr id="300" name="Google Shape;300;p5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GC or runtime.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Control allocation and dispatch.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Can write + wrap low-level code.</a:t>
            </a:r>
            <a:endParaRPr/>
          </a:p>
        </p:txBody>
      </p:sp>
      <p:sp>
        <p:nvSpPr>
          <p:cNvPr id="301" name="Google Shape;301;p5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Compatibility</a:t>
            </a:r>
            <a:endParaRPr/>
          </a:p>
        </p:txBody>
      </p:sp>
      <p:sp>
        <p:nvSpPr>
          <p:cNvPr id="307" name="Google Shape;307;p5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or: it plays nicely with others</a:t>
            </a:r>
            <a:endParaRPr/>
          </a:p>
        </p:txBody>
      </p:sp>
      <p:sp>
        <p:nvSpPr>
          <p:cNvPr id="308" name="Google Shape;308;p5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Zero-overhead FFI.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Great WebAssembly support.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Works with traditional tools.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Compatibility</a:t>
            </a:r>
            <a:endParaRPr/>
          </a:p>
        </p:txBody>
      </p:sp>
      <p:sp>
        <p:nvSpPr>
          <p:cNvPr id="314" name="Google Shape;314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or: it plays nicely with others</a:t>
            </a:r>
            <a:endParaRPr/>
          </a:p>
        </p:txBody>
      </p:sp>
      <p:sp>
        <p:nvSpPr>
          <p:cNvPr id="315" name="Google Shape;315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Zero-overhead FFI.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Great WebAssembly support.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Works with traditional tools.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Zero-overhead FFI.</a:t>
            </a:r>
            <a:endParaRPr/>
          </a:p>
        </p:txBody>
      </p:sp>
      <p:sp>
        <p:nvSpPr>
          <p:cNvPr id="321" name="Google Shape;321;p54"/>
          <p:cNvSpPr txBox="1"/>
          <p:nvPr/>
        </p:nvSpPr>
        <p:spPr>
          <a:xfrm>
            <a:off x="311700" y="306100"/>
            <a:ext cx="8483400" cy="39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trivial to get access to any function following C ABI</a:t>
            </a:r>
            <a:endParaRPr>
              <a:solidFill>
                <a:srgbClr val="B7B7B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extern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>
                <a:solidFill>
                  <a:srgbClr val="351C7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"C"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{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</a:t>
            </a: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fn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c_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abs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(input: i32) -&gt; i32;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fn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main() {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</a:t>
            </a: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inherently unsafe; who knows what C code does</a:t>
            </a:r>
            <a:endParaRPr>
              <a:solidFill>
                <a:srgbClr val="B7B7B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</a:t>
            </a:r>
            <a:r>
              <a:rPr lang="en">
                <a:solidFill>
                  <a:srgbClr val="98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println!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(</a:t>
            </a:r>
            <a:r>
              <a:rPr lang="en">
                <a:solidFill>
                  <a:srgbClr val="351C7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“{}”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, </a:t>
            </a:r>
            <a:r>
              <a:rPr lang="en">
                <a:solidFill>
                  <a:srgbClr val="FF99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unsafe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{ c_abs(</a:t>
            </a:r>
            <a:r>
              <a:rPr lang="en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-42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) });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trivial to expose Rust functions/types through C ABI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#[no_mangle]</a:t>
            </a:r>
            <a:endParaRPr>
              <a:solidFill>
                <a:srgbClr val="FF99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pub extern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>
                <a:solidFill>
                  <a:srgbClr val="351C7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"C"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fn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callable_from_c() {</a:t>
            </a:r>
            <a:endParaRPr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</a:t>
            </a:r>
            <a:r>
              <a:rPr lang="en">
                <a:solidFill>
                  <a:srgbClr val="98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println!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</a:t>
            </a:r>
            <a:r>
              <a:rPr lang="en">
                <a:solidFill>
                  <a:srgbClr val="351C7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"This function is callable from C"</a:t>
            </a: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);</a:t>
            </a:r>
            <a:endParaRPr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Compatibility</a:t>
            </a:r>
            <a:endParaRPr/>
          </a:p>
        </p:txBody>
      </p:sp>
      <p:sp>
        <p:nvSpPr>
          <p:cNvPr id="327" name="Google Shape;327;p5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5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Zero-overhead FFI.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Great WebAssembly support.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Works with traditional tools.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Compatibility</a:t>
            </a:r>
            <a:endParaRPr/>
          </a:p>
        </p:txBody>
      </p:sp>
      <p:sp>
        <p:nvSpPr>
          <p:cNvPr id="334" name="Google Shape;334;p5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5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Zero-overhead FFI.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Great WebAssembly support.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/>
              <a:t>Works with traditional tools.</a:t>
            </a:r>
            <a:endParaRPr b="1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Works with traditional tools.</a:t>
            </a:r>
            <a:endParaRPr/>
          </a:p>
        </p:txBody>
      </p:sp>
      <p:sp>
        <p:nvSpPr>
          <p:cNvPr id="341" name="Google Shape;341;p57"/>
          <p:cNvSpPr txBox="1"/>
          <p:nvPr/>
        </p:nvSpPr>
        <p:spPr>
          <a:xfrm>
            <a:off x="311700" y="306100"/>
            <a:ext cx="8483400" cy="39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Rust uses LLVM, normal calling conventions, no runtime, DWARF, so: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	perf works.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	gdb/lldb works.</a:t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valgrind works.</a:t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LLVM sanitizers work.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Compatibility</a:t>
            </a:r>
            <a:endParaRPr/>
          </a:p>
        </p:txBody>
      </p:sp>
      <p:sp>
        <p:nvSpPr>
          <p:cNvPr id="347" name="Google Shape;347;p5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5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Zero-overhead FFI.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Great WebAssembly support.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Works with traditional tools.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Tooling</a:t>
            </a:r>
            <a:endParaRPr/>
          </a:p>
        </p:txBody>
      </p:sp>
      <p:sp>
        <p:nvSpPr>
          <p:cNvPr id="354" name="Google Shape;354;p5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r>
              <a:rPr lang="en"/>
              <a:t>ependency management.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Standard tools included.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Excellent support for macros.</a:t>
            </a:r>
            <a:endParaRPr/>
          </a:p>
        </p:txBody>
      </p:sp>
      <p:sp>
        <p:nvSpPr>
          <p:cNvPr id="355" name="Google Shape;355;p5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or: it comes with batteries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Tooling</a:t>
            </a:r>
            <a:endParaRPr/>
          </a:p>
        </p:txBody>
      </p:sp>
      <p:sp>
        <p:nvSpPr>
          <p:cNvPr id="361" name="Google Shape;361;p6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or: it comes with batteries</a:t>
            </a:r>
            <a:endParaRPr/>
          </a:p>
        </p:txBody>
      </p:sp>
      <p:sp>
        <p:nvSpPr>
          <p:cNvPr id="362" name="Google Shape;362;p6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Dependency management.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Standard tools included.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Excellent support for macros.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Built-in dependency management.</a:t>
            </a:r>
            <a:endParaRPr/>
          </a:p>
        </p:txBody>
      </p:sp>
      <p:sp>
        <p:nvSpPr>
          <p:cNvPr id="368" name="Google Shape;368;p61"/>
          <p:cNvSpPr txBox="1"/>
          <p:nvPr/>
        </p:nvSpPr>
        <p:spPr>
          <a:xfrm>
            <a:off x="311700" y="306100"/>
            <a:ext cx="8483400" cy="39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Cargo.toml</a:t>
            </a:r>
            <a:endParaRPr>
              <a:solidFill>
                <a:srgbClr val="999999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[dependencies]</a:t>
            </a:r>
            <a:endParaRPr>
              <a:solidFill>
                <a:srgbClr val="98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regex = “1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.3.3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”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rayon = “1.2”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csv = { git = “</a:t>
            </a:r>
            <a:r>
              <a:rPr lang="en" u="sng">
                <a:solidFill>
                  <a:schemeClr val="hlink"/>
                </a:solidFill>
                <a:latin typeface="Source Code Pro"/>
                <a:ea typeface="Source Code Pro"/>
                <a:cs typeface="Source Code Pro"/>
                <a:sym typeface="Source Code Pro"/>
                <a:hlinkClick r:id="rId3"/>
              </a:rPr>
              <a:t>https://github.com/…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” }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[dev-dependencies]</a:t>
            </a:r>
            <a:endParaRPr>
              <a:solidFill>
                <a:srgbClr val="98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quickcheck = “0.9.2”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ource Code Pro"/>
                <a:ea typeface="Source Code Pro"/>
                <a:cs typeface="Source Code Pro"/>
                <a:sym typeface="Source Code Pro"/>
              </a:rPr>
              <a:t>$ cargo build</a:t>
            </a:r>
            <a:endParaRPr b="1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Downloading regex 1.3.4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Downloading rayon 1.3.0</a:t>
            </a:r>
            <a:endParaRPr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Updating git repository ‘https://github.com/…’</a:t>
            </a:r>
            <a:endParaRPr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Compiling ...</a:t>
            </a:r>
            <a:endParaRPr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$ cargo test</a:t>
            </a:r>
            <a:endParaRPr b="1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Downloading quickcheck 0.9.2</a:t>
            </a:r>
            <a:endParaRPr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Compiling ...</a:t>
            </a:r>
            <a:endParaRPr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Running ...</a:t>
            </a:r>
            <a:endParaRPr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Tooling</a:t>
            </a:r>
            <a:endParaRPr/>
          </a:p>
        </p:txBody>
      </p:sp>
      <p:sp>
        <p:nvSpPr>
          <p:cNvPr id="374" name="Google Shape;374;p6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6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Dependency management.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Standard tools included.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Excellent support for macros.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 tools included.</a:t>
            </a:r>
            <a:endParaRPr/>
          </a:p>
        </p:txBody>
      </p:sp>
      <p:sp>
        <p:nvSpPr>
          <p:cNvPr id="381" name="Google Shape;381;p63"/>
          <p:cNvSpPr txBox="1"/>
          <p:nvPr/>
        </p:nvSpPr>
        <p:spPr>
          <a:xfrm>
            <a:off x="311700" y="306100"/>
            <a:ext cx="8483400" cy="39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Standard distribution ships with: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	</a:t>
            </a:r>
            <a:r>
              <a:rPr b="1" lang="en" sz="1800">
                <a:solidFill>
                  <a:schemeClr val="dk1"/>
                </a:solidFill>
              </a:rPr>
              <a:t>cargo fmt</a:t>
            </a:r>
            <a:r>
              <a:rPr lang="en" sz="1800">
                <a:solidFill>
                  <a:schemeClr val="dk1"/>
                </a:solidFill>
              </a:rPr>
              <a:t> — code formatter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	</a:t>
            </a:r>
            <a:r>
              <a:rPr b="1" lang="en" sz="1800">
                <a:solidFill>
                  <a:schemeClr val="dk1"/>
                </a:solidFill>
              </a:rPr>
              <a:t>cargo doc</a:t>
            </a:r>
            <a:r>
              <a:rPr lang="en" sz="1800">
                <a:solidFill>
                  <a:schemeClr val="dk1"/>
                </a:solidFill>
              </a:rPr>
              <a:t> — documentation generator</a:t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cargo clippy</a:t>
            </a:r>
            <a:r>
              <a:rPr lang="en" sz="1800">
                <a:solidFill>
                  <a:schemeClr val="dk1"/>
                </a:solidFill>
              </a:rPr>
              <a:t> — linter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	</a:t>
            </a:r>
            <a:r>
              <a:rPr b="1" lang="en" sz="1800">
                <a:solidFill>
                  <a:schemeClr val="dk1"/>
                </a:solidFill>
              </a:rPr>
              <a:t>rls/rust-analyzer</a:t>
            </a:r>
            <a:r>
              <a:rPr lang="en" sz="1800">
                <a:solidFill>
                  <a:schemeClr val="dk1"/>
                </a:solidFill>
              </a:rPr>
              <a:t> — compiler front-end for IDE integration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Tooling</a:t>
            </a:r>
            <a:endParaRPr/>
          </a:p>
        </p:txBody>
      </p:sp>
      <p:sp>
        <p:nvSpPr>
          <p:cNvPr id="387" name="Google Shape;387;p6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6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Dependency management.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Standard tools included.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/>
              <a:t>Excellent support for macros.</a:t>
            </a:r>
            <a:endParaRPr b="1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Excellent support for macros.</a:t>
            </a:r>
            <a:endParaRPr/>
          </a:p>
        </p:txBody>
      </p:sp>
      <p:sp>
        <p:nvSpPr>
          <p:cNvPr id="394" name="Google Shape;394;p65"/>
          <p:cNvSpPr txBox="1"/>
          <p:nvPr/>
        </p:nvSpPr>
        <p:spPr>
          <a:xfrm>
            <a:off x="311700" y="306100"/>
            <a:ext cx="8483400" cy="39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macro_rules!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assert_eq {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(</a:t>
            </a:r>
            <a:r>
              <a:rPr lang="en">
                <a:solidFill>
                  <a:srgbClr val="9900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$left:expr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, </a:t>
            </a:r>
            <a:r>
              <a:rPr lang="en">
                <a:solidFill>
                  <a:srgbClr val="9900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$right:expr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) =&gt; {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let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left = </a:t>
            </a:r>
            <a:r>
              <a:rPr lang="en">
                <a:solidFill>
                  <a:srgbClr val="9900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$left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let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right = </a:t>
            </a:r>
            <a:r>
              <a:rPr lang="en">
                <a:solidFill>
                  <a:srgbClr val="9900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$right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left != right {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    </a:t>
            </a:r>
            <a:r>
              <a:rPr lang="en">
                <a:solidFill>
                  <a:srgbClr val="98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panic!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(</a:t>
            </a:r>
            <a:r>
              <a:rPr lang="en">
                <a:solidFill>
                  <a:srgbClr val="351C7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"assertion failed: {:?} != {:?}"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, left, right);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  }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}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assert_eq!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(</a:t>
            </a:r>
            <a:r>
              <a:rPr lang="en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+ </a:t>
            </a:r>
            <a:r>
              <a:rPr lang="en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, </a:t>
            </a:r>
            <a:r>
              <a:rPr lang="en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);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Excellent support for macros.</a:t>
            </a:r>
            <a:endParaRPr/>
          </a:p>
        </p:txBody>
      </p:sp>
      <p:sp>
        <p:nvSpPr>
          <p:cNvPr id="400" name="Google Shape;400;p66"/>
          <p:cNvSpPr txBox="1"/>
          <p:nvPr/>
        </p:nvSpPr>
        <p:spPr>
          <a:xfrm>
            <a:off x="311700" y="306100"/>
            <a:ext cx="8483400" cy="39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macro_rules!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assert_eq {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(</a:t>
            </a:r>
            <a:r>
              <a:rPr lang="en">
                <a:solidFill>
                  <a:srgbClr val="9900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$left:expr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, </a:t>
            </a:r>
            <a:r>
              <a:rPr lang="en">
                <a:solidFill>
                  <a:srgbClr val="9900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$right:expr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) =&gt; {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let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left = </a:t>
            </a:r>
            <a:r>
              <a:rPr lang="en">
                <a:solidFill>
                  <a:srgbClr val="9900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$left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let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right = </a:t>
            </a:r>
            <a:r>
              <a:rPr lang="en">
                <a:solidFill>
                  <a:srgbClr val="9900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$right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left != right {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    </a:t>
            </a:r>
            <a:r>
              <a:rPr lang="en">
                <a:solidFill>
                  <a:srgbClr val="98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panic!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(</a:t>
            </a:r>
            <a:r>
              <a:rPr lang="en">
                <a:solidFill>
                  <a:srgbClr val="351C7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"assertion failed: {:?} != {:?}"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, left, right);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  }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}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assert_eq!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(</a:t>
            </a:r>
            <a:r>
              <a:rPr lang="en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+ </a:t>
            </a:r>
            <a:r>
              <a:rPr lang="en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, </a:t>
            </a:r>
            <a:r>
              <a:rPr lang="en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);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#[derive(Serialize, Deserialize)]</a:t>
            </a:r>
            <a:endParaRPr>
              <a:solidFill>
                <a:srgbClr val="FF99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struct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Person {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name: String,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age: u32,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Tooling</a:t>
            </a:r>
            <a:endParaRPr/>
          </a:p>
        </p:txBody>
      </p:sp>
      <p:sp>
        <p:nvSpPr>
          <p:cNvPr id="406" name="Google Shape;406;p6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6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Dependency management.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Standard tools included.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Excellent support for macros.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Asynchronous code</a:t>
            </a:r>
            <a:endParaRPr/>
          </a:p>
        </p:txBody>
      </p:sp>
      <p:sp>
        <p:nvSpPr>
          <p:cNvPr id="413" name="Google Shape;413;p6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Language support for writing asynchronous code.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Choose your own runtime!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Watch this space — still evolving.</a:t>
            </a:r>
            <a:endParaRPr/>
          </a:p>
        </p:txBody>
      </p:sp>
      <p:sp>
        <p:nvSpPr>
          <p:cNvPr id="414" name="Google Shape;414;p6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Rust’s primary drawbacks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7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curve</a:t>
            </a:r>
            <a:endParaRPr/>
          </a:p>
        </p:txBody>
      </p:sp>
      <p:sp>
        <p:nvSpPr>
          <p:cNvPr id="425" name="Google Shape;425;p7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7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borrow checker is different.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No object-oriented programming.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7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Ecosystem</a:t>
            </a:r>
            <a:endParaRPr/>
          </a:p>
        </p:txBody>
      </p:sp>
      <p:sp>
        <p:nvSpPr>
          <p:cNvPr id="432" name="Google Shape;432;p7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7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Young, and few maintainers.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Small (but growing quickly).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7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runtime</a:t>
            </a:r>
            <a:endParaRPr/>
          </a:p>
        </p:txBody>
      </p:sp>
      <p:sp>
        <p:nvSpPr>
          <p:cNvPr id="439" name="Google Shape;439;p7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7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runtime reflection.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No runtime-aided debugging.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7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Compile time</a:t>
            </a:r>
            <a:endParaRPr/>
          </a:p>
        </p:txBody>
      </p:sp>
      <p:sp>
        <p:nvSpPr>
          <p:cNvPr id="446" name="Google Shape;446;p7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7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Improving, but still slow.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No pre-built libraries.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7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Vendor support</a:t>
            </a:r>
            <a:endParaRPr/>
          </a:p>
        </p:txBody>
      </p:sp>
      <p:sp>
        <p:nvSpPr>
          <p:cNvPr id="453" name="Google Shape;453;p7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7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Huge C++ libraries are a pain.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Tooling that only supports C++.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7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</a:t>
            </a:r>
            <a:endParaRPr/>
          </a:p>
        </p:txBody>
      </p:sp>
      <p:sp>
        <p:nvSpPr>
          <p:cNvPr id="460" name="Google Shape;460;p7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7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compiler/std support.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Limited library support.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7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Long-term viability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Long-term viability seems high.</a:t>
            </a:r>
            <a:endParaRPr/>
          </a:p>
        </p:txBody>
      </p:sp>
      <p:sp>
        <p:nvSpPr>
          <p:cNvPr id="472" name="Google Shape;472;p77"/>
          <p:cNvSpPr txBox="1"/>
          <p:nvPr>
            <p:ph idx="1" type="body"/>
          </p:nvPr>
        </p:nvSpPr>
        <p:spPr>
          <a:xfrm>
            <a:off x="580425" y="1152475"/>
            <a:ext cx="825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Most loved language four years running.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Adoption by large companies (“Friends of Rust”):</a:t>
            </a:r>
            <a:endParaRPr/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Mozilla, Dropbox, CloudFlare, Microsoft,</a:t>
            </a:r>
            <a:r>
              <a:rPr lang="en"/>
              <a:t> </a:t>
            </a:r>
            <a:r>
              <a:rPr lang="en"/>
              <a:t>Google, Amazon, Facebook, Atlassian, npm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Great interoperability story; easy incremental adoption.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Increased company involvement in Rust itself.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~10 yearly conferences around the world.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more:</a:t>
            </a:r>
            <a:endParaRPr/>
          </a:p>
        </p:txBody>
      </p:sp>
      <p:sp>
        <p:nvSpPr>
          <p:cNvPr id="478" name="Google Shape;478;p78"/>
          <p:cNvSpPr txBox="1"/>
          <p:nvPr>
            <p:ph idx="1" type="body"/>
          </p:nvPr>
        </p:nvSpPr>
        <p:spPr>
          <a:xfrm>
            <a:off x="580425" y="1152475"/>
            <a:ext cx="825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https://matklad.github.io/2020/02/14/why-rust-is-loved.html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https://twitter.com/jonhoo/status/1205184012861497344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https://twitter.com/jonhoo/status/121573921457628774</a:t>
            </a:r>
            <a:r>
              <a:rPr lang="en" u="sng">
                <a:solidFill>
                  <a:schemeClr val="hlink"/>
                </a:solidFill>
                <a:hlinkClick r:id="rId6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license</a:t>
            </a:r>
            <a:endParaRPr/>
          </a:p>
        </p:txBody>
      </p:sp>
      <p:sp>
        <p:nvSpPr>
          <p:cNvPr id="484" name="Google Shape;484;p79"/>
          <p:cNvSpPr txBox="1"/>
          <p:nvPr>
            <p:ph idx="1" type="body"/>
          </p:nvPr>
        </p:nvSpPr>
        <p:spPr>
          <a:xfrm>
            <a:off x="580425" y="1152475"/>
            <a:ext cx="825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This work is licensed under the Creative Commons Attribution 4.0 International License. To view a copy of this license, visit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http://creativecommons.org/licenses/by/4.0/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